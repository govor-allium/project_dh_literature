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Didact Gothic"/>
      <p:regular r:id="rId19"/>
    </p:embeddedFont>
    <p:embeddedFont>
      <p:font typeface="Playfair Display S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SC-regular.fntdata"/><Relationship Id="rId11" Type="http://schemas.openxmlformats.org/officeDocument/2006/relationships/slide" Target="slides/slide6.xml"/><Relationship Id="rId22" Type="http://schemas.openxmlformats.org/officeDocument/2006/relationships/font" Target="fonts/PlayfairDisplaySC-italic.fntdata"/><Relationship Id="rId10" Type="http://schemas.openxmlformats.org/officeDocument/2006/relationships/slide" Target="slides/slide5.xml"/><Relationship Id="rId21" Type="http://schemas.openxmlformats.org/officeDocument/2006/relationships/font" Target="fonts/PlayfairDisplaySC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layfairDisplaySC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DidactGothic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86bec7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86bec7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86bec7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86bec7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f8c4ff5b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f8c4ff5b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f8c4ff5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f8c4ff5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f86bec70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f86bec70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f8c4ff5b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f8c4ff5b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8c4ff5b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f8c4ff5b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f8c4ff5b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f8c4ff5b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f8c4ff5b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f8c4ff5b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f8c4ff5b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f8c4ff5b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f8c4ff5b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f8c4ff5b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86bec70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f86bec70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69775"/>
            <a:ext cx="8520600" cy="24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Playfair Display SC"/>
                <a:ea typeface="Playfair Display SC"/>
                <a:cs typeface="Playfair Display SC"/>
                <a:sym typeface="Playfair Display SC"/>
              </a:rPr>
              <a:t>Проектная работа по теме</a:t>
            </a:r>
            <a:r>
              <a:rPr lang="ru" sz="3000">
                <a:latin typeface="Playfair Display SC"/>
                <a:ea typeface="Playfair Display SC"/>
                <a:cs typeface="Playfair Display SC"/>
                <a:sym typeface="Playfair Display SC"/>
              </a:rPr>
              <a:t> </a:t>
            </a:r>
            <a:endParaRPr sz="3000">
              <a:latin typeface="Playfair Display SC"/>
              <a:ea typeface="Playfair Display SC"/>
              <a:cs typeface="Playfair Display SC"/>
              <a:sym typeface="Playfair Display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layfair Display SC"/>
              <a:ea typeface="Playfair Display SC"/>
              <a:cs typeface="Playfair Display SC"/>
              <a:sym typeface="Playfair Display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Playfair Display SC"/>
                <a:ea typeface="Playfair Display SC"/>
                <a:cs typeface="Playfair Display SC"/>
                <a:sym typeface="Playfair Display SC"/>
              </a:rPr>
              <a:t>«Н</a:t>
            </a:r>
            <a:r>
              <a:rPr lang="ru" sz="3000">
                <a:latin typeface="Playfair Display SC"/>
                <a:ea typeface="Playfair Display SC"/>
                <a:cs typeface="Playfair Display SC"/>
                <a:sym typeface="Playfair Display SC"/>
              </a:rPr>
              <a:t>ациональный колорит "Тихого Дона": частотный анализ лексических и этнографических диалектизмов» </a:t>
            </a:r>
            <a:endParaRPr sz="300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394700"/>
            <a:ext cx="85206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состав группы: Галочкина Екатерина, Советникова Алёна, Говорова Анастасия, </a:t>
            </a:r>
            <a:endParaRPr b="1" sz="1400">
              <a:solidFill>
                <a:schemeClr val="dk1"/>
              </a:solidFill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94700"/>
            <a:ext cx="85206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>
                <a:latin typeface="Playfair Display SC"/>
                <a:ea typeface="Playfair Display SC"/>
                <a:cs typeface="Playfair Display SC"/>
                <a:sym typeface="Playfair Display SC"/>
              </a:rPr>
              <a:t>Материал работы </a:t>
            </a:r>
            <a:endParaRPr sz="2720">
              <a:latin typeface="Playfair Display SC"/>
              <a:ea typeface="Playfair Display SC"/>
              <a:cs typeface="Playfair Display SC"/>
              <a:sym typeface="Playfair Display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>
                <a:latin typeface="Playfair Display SC"/>
                <a:ea typeface="Playfair Display SC"/>
                <a:cs typeface="Playfair Display SC"/>
                <a:sym typeface="Playfair Display SC"/>
              </a:rPr>
              <a:t>(М. Шолохов «Тихий Дон»)  </a:t>
            </a:r>
            <a:endParaRPr sz="27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29000" y="1181600"/>
            <a:ext cx="2802600" cy="3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Книга первая. Часть первая.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Глава II.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О чем: </a:t>
            </a: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Григорий Мелехов с отцом едут на рыбалку. На рыбалке отец предупреждает Григория, чтобы тот прекратил отношения с замужней соседкой Аксиньей Астаховой.  После рыбалки Григорий несет пойманную рыбу купцам Моховым. По пути он встречает своего друга Митьку Коршунова. Они вместе идут к Моховым и продают рыбу.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204850" y="1171100"/>
            <a:ext cx="2802600" cy="3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Книга четвёртая. Часть восьмая.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Глава XVII.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О чем: </a:t>
            </a: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Григорий сбегает из банды Фомина и тайно приезжает на свой хутор Татарский. Он поручает детей Дуняше и вместе с Аксиньей снова уезжает. В пути Григория и Аксинью обнаруживают красноармейцы. Аксинья получает ранение. Она умирает на руках у Григория. Григорий хоронит ее где-то в степи.</a:t>
            </a: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66925" y="1171100"/>
            <a:ext cx="2802600" cy="3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Книга вторая. Часть пятая.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Глава XV.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О чем: </a:t>
            </a: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После разгрома "белого" генерала Чернецова успех оказывается на стороне Советской власти. "Белый" генерал Каледин считает, что бороться с большевиками бесполезно. В своем кабинете Каледин кончает жизнь самоубийством.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Цель </a:t>
            </a: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работы: 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089000" y="1870400"/>
            <a:ext cx="6966000" cy="24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На примере языковых единиц конкретных, тематически цельных глав «Тихого Дона» выявить две ведущие тенденции в романе, в частности, колорит казаческой жизни и описание Первой мировой и гражданской войн.</a:t>
            </a:r>
            <a:endParaRPr sz="2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Исследовательская гипотеза</a:t>
            </a: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: 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089000" y="1870400"/>
            <a:ext cx="6966000" cy="24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1A1A1A"/>
                </a:solidFill>
                <a:highlight>
                  <a:srgbClr val="FFFFFF"/>
                </a:highlight>
                <a:latin typeface="Didact Gothic"/>
                <a:ea typeface="Didact Gothic"/>
                <a:cs typeface="Didact Gothic"/>
                <a:sym typeface="Didact Gothic"/>
              </a:rPr>
              <a:t>В главах «Тихого Дона», посвященных казачьему быту и жизни, диалектизмы преобладают, а в описании военных событий и их хода М. Шолохов использует в большей степени чистую русскую речь, за исключением диалогов.</a:t>
            </a:r>
            <a:r>
              <a:rPr lang="ru" sz="2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2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Структура работы: 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388700"/>
            <a:ext cx="8457600" cy="31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Введение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Очистка текста и лемматизация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Общее рассмотрение исследуемых глав с помощью цифровых методов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Диалектный анализ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Частотный анализ диалектизмов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Разбор коллокаций для исследуемых диалектизмов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AutoNum type="arabicPeriod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Выводы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Распределение задач</a:t>
            </a: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 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152450" y="1375425"/>
            <a:ext cx="269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Участник 1: первичная обработка корпуса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написание кода для прочтения материала и </a:t>
            </a: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разбиения</a:t>
            </a: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его на главы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токенизация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удаление всех лишних элементов (знаки препинания, служебные слова)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приведение текста  к нижнему регистру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выделение диалектизмов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324000" y="1375425"/>
            <a:ext cx="269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Участник 3: коллокации, визуализации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разделение текста на фрагменты для сравнения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подсчет частотности вхождения слов в текст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выделение коллокаций для интересующей нас лексики 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построение графиков, создание презентации, выводы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238225" y="1375425"/>
            <a:ext cx="269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Участник 2: частотный и диалектный анализ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составление словаря диалектизмов и этнографизмов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разметка слов по категориям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сравнение глав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подсчет абсолютной и относительной частоты по главам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➢"/>
            </a:pPr>
            <a:r>
              <a:rPr lang="ru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выделение коллокаций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5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Облака частотности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pic>
        <p:nvPicPr>
          <p:cNvPr id="95" name="Google Shape;95;p19" title="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088" y="1017725"/>
            <a:ext cx="7099824" cy="38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8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Облака частотности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pic>
        <p:nvPicPr>
          <p:cNvPr id="101" name="Google Shape;101;p20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650" y="1138525"/>
            <a:ext cx="6998700" cy="37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Облака частотности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pic>
        <p:nvPicPr>
          <p:cNvPr id="107" name="Google Shape;107;p21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441" y="1204199"/>
            <a:ext cx="6931110" cy="37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688" y="16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>
                <a:latin typeface="Playfair Display SC"/>
                <a:ea typeface="Playfair Display SC"/>
                <a:cs typeface="Playfair Display SC"/>
                <a:sym typeface="Playfair Display SC"/>
              </a:rPr>
              <a:t>Частота диалектизмов</a:t>
            </a:r>
            <a:endParaRPr sz="27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pic>
        <p:nvPicPr>
          <p:cNvPr id="113" name="Google Shape;113;p22" title="image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937" y="930997"/>
            <a:ext cx="7390125" cy="4060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688" y="16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>
                <a:latin typeface="Playfair Display SC"/>
                <a:ea typeface="Playfair Display SC"/>
                <a:cs typeface="Playfair Display SC"/>
                <a:sym typeface="Playfair Display SC"/>
              </a:rPr>
              <a:t>Частота диалектизмов</a:t>
            </a:r>
            <a:endParaRPr sz="27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pic>
        <p:nvPicPr>
          <p:cNvPr id="119" name="Google Shape;119;p23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13" y="1047795"/>
            <a:ext cx="7804976" cy="3872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Playfair Display SC"/>
                <a:ea typeface="Playfair Display SC"/>
                <a:cs typeface="Playfair Display SC"/>
                <a:sym typeface="Playfair Display SC"/>
              </a:rPr>
              <a:t>Вывод:</a:t>
            </a:r>
            <a:endParaRPr sz="3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501450" y="1704150"/>
            <a:ext cx="8141100" cy="26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A1A1A"/>
                </a:solidFill>
                <a:latin typeface="Didact Gothic"/>
                <a:ea typeface="Didact Gothic"/>
                <a:cs typeface="Didact Gothic"/>
                <a:sym typeface="Didact Gothic"/>
              </a:rPr>
              <a:t>Гипотеза подтверждена. Уже локальный, основанный на конкретных главах анализ частотности и диалектизмов, позволяет увидеть, как характерный язык донских казаков в процентном соотношении связан с тематическим планом. В главах 1 и 3 лексика диалектизмов преобладает, так как речь идет о житейских аспектах жизни героев, во второй преобладает русский язык, потому что описание хода военных событий затрагивает не только само казачество, но и русского человека, и человека европейской мысли (например, герой Штокман).</a:t>
            </a:r>
            <a:endParaRPr>
              <a:solidFill>
                <a:srgbClr val="1A1A1A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2170050"/>
            <a:ext cx="8520600" cy="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020">
                <a:latin typeface="Playfair Display SC"/>
                <a:ea typeface="Playfair Display SC"/>
                <a:cs typeface="Playfair Display SC"/>
                <a:sym typeface="Playfair Display SC"/>
              </a:rPr>
              <a:t>Спасибо за внимание!</a:t>
            </a:r>
            <a:endParaRPr sz="4020"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